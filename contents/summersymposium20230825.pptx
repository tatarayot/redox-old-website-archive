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05613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8F39"/>
    <a:srgbClr val="4C867C"/>
    <a:srgbClr val="FFFFFF"/>
    <a:srgbClr val="C9FFB3"/>
    <a:srgbClr val="65BCC0"/>
    <a:srgbClr val="38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3162" y="6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12AA83-DC30-D910-40DB-6F0CD5DF9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95E4516-EC11-17A5-7156-2BBA9A1EB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2AC389-FA51-920A-A824-D862A0B26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F7-8B05-4416-963E-5164AB691C0C}" type="datetimeFigureOut">
              <a:rPr kumimoji="1" lang="ja-JP" altLang="en-US" smtClean="0"/>
              <a:t>2023/7/10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46298F-A840-55D0-B017-F3A9FFD5B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564B44-A735-7FA1-8108-F7F7E184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56B14-F48D-4279-A802-1BFB2971EB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61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509127-F453-352C-9AFC-A23FE584B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3772B9-E392-4FB2-7F67-80DE1A313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64647F-CCC3-3BEF-CE76-6C661E6AE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F7-8B05-4416-963E-5164AB691C0C}" type="datetimeFigureOut">
              <a:rPr kumimoji="1" lang="ja-JP" altLang="en-US" smtClean="0"/>
              <a:t>2023/7/10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973859-A220-CC2C-2D0D-0CE7AB1B3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7FED01-9B1D-A21F-1241-E6B52F7D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56B14-F48D-4279-A802-1BFB2971EB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071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725558-235C-9F39-8648-E695EA3F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BC8429-8496-92D6-E5F0-C64E69501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D32AAE-555B-F211-E312-C9D45081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F7-8B05-4416-963E-5164AB691C0C}" type="datetimeFigureOut">
              <a:rPr kumimoji="1" lang="ja-JP" altLang="en-US" smtClean="0"/>
              <a:t>2023/7/10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2DCD94-5FFE-6632-B90C-D8DF171D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C7568C-910E-489E-7B92-F9EA1C17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56B14-F48D-4279-A802-1BFB2971EB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912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F31DBF-F6C0-ED06-474D-95E9CCE9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C67952-5F45-E594-A941-9D46F5F14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D42375-D7B0-8103-9A85-0A4CC6E9D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048149-085A-0DD5-6B09-85F24EC5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F7-8B05-4416-963E-5164AB691C0C}" type="datetimeFigureOut">
              <a:rPr kumimoji="1" lang="ja-JP" altLang="en-US" smtClean="0"/>
              <a:t>2023/7/10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1C797C-11E0-D6FD-3CBC-3A294284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4794D9-15F1-7D91-BABC-05BDEA93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56B14-F48D-4279-A802-1BFB2971EB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2556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1AE15B-FAD3-709A-F0EC-39DEC0154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826266-19BE-88B7-771C-BD617FDB9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690727-61F3-4106-B2EA-61FDE42F6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C81B983-F8CD-C435-2C34-5AACB983C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AAD9ED7-1074-1599-0AE4-A27F56002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FB80B00-9192-5534-22DE-B6047470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F7-8B05-4416-963E-5164AB691C0C}" type="datetimeFigureOut">
              <a:rPr kumimoji="1" lang="ja-JP" altLang="en-US" smtClean="0"/>
              <a:t>2023/7/10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84025CA-D4C3-1EA4-4553-D2BB0EB1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046471A-21F0-10BE-DE03-DFFDA5D3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56B14-F48D-4279-A802-1BFB2971EB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7513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FD3CEE-E996-2C55-7B20-79C9773B0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33CE9AC-40BA-9B46-3FFB-547F5039F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F7-8B05-4416-963E-5164AB691C0C}" type="datetimeFigureOut">
              <a:rPr kumimoji="1" lang="ja-JP" altLang="en-US" smtClean="0"/>
              <a:t>2023/7/10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5544C4-DDB9-B87E-0222-58C6894C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365C1C-C0BE-9E2E-A9A3-C0C877CC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56B14-F48D-4279-A802-1BFB2971EB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114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4373696-64F8-B5B8-6AE4-911CF66D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F7-8B05-4416-963E-5164AB691C0C}" type="datetimeFigureOut">
              <a:rPr kumimoji="1" lang="ja-JP" altLang="en-US" smtClean="0"/>
              <a:t>2023/7/10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77E6622-F1E8-6841-532B-88404F37E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AD3903-76CC-46AF-42B4-80121940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56B14-F48D-4279-A802-1BFB2971EB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9639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CC446A-5921-BDD4-93FE-5138DA8B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4CA013-7492-D513-6E36-07B497E16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80C811-75E3-BDEF-9D2C-C58EBCA0A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66D2AE-2B50-079D-4248-01125AF73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F7-8B05-4416-963E-5164AB691C0C}" type="datetimeFigureOut">
              <a:rPr kumimoji="1" lang="ja-JP" altLang="en-US" smtClean="0"/>
              <a:t>2023/7/10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9EC433-4619-72FA-A054-48946AAAC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B8A450-9F77-FA05-0E28-55A5A1C1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56B14-F48D-4279-A802-1BFB2971EB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0783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EFFB9D-E39D-6216-945A-4D30CDE1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293C566-DE64-7950-3366-8CC652F5F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BE488E-A133-9610-D27B-DDEA2BC1C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A3C8B9-8C62-E960-8D0B-0B6C099C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F7-8B05-4416-963E-5164AB691C0C}" type="datetimeFigureOut">
              <a:rPr kumimoji="1" lang="ja-JP" altLang="en-US" smtClean="0"/>
              <a:t>2023/7/10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6C5FA9-ED74-1775-785B-82270AB87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237581-573D-A435-B375-0828A57F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56B14-F48D-4279-A802-1BFB2971EB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6710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D46A30-C145-EA16-FACE-F804EF05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35CE4BA-4CDA-7D0D-67E9-93A58B773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E784BB-3BD1-3B8B-F2B3-B15D15523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F7-8B05-4416-963E-5164AB691C0C}" type="datetimeFigureOut">
              <a:rPr kumimoji="1" lang="ja-JP" altLang="en-US" smtClean="0"/>
              <a:t>2023/7/10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468DDE-1C4F-CB32-F654-005453551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CE6C04-6A74-357C-64F2-23967CF6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56B14-F48D-4279-A802-1BFB2971EB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9603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1D851CF-AAD2-86BB-1C71-533C3C0EE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1BDDAE-9BCA-4108-72C5-EB0A33CA0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9CFE3A-61E2-7A29-A406-80AD7A8B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63F7-8B05-4416-963E-5164AB691C0C}" type="datetimeFigureOut">
              <a:rPr kumimoji="1" lang="ja-JP" altLang="en-US" smtClean="0"/>
              <a:t>2023/7/10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806F56-1972-98B7-E6A6-146C3F396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15667B-B77B-EE1B-7B8A-EBFF90AF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56B14-F48D-4279-A802-1BFB2971EB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858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7A3E515-5510-6371-E284-571038D9D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AAC1DE-5D78-7B66-0A50-3C0141A72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AD1DAE-8E88-805A-6A11-2E78BC8245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063F7-8B05-4416-963E-5164AB691C0C}" type="datetimeFigureOut">
              <a:rPr kumimoji="1" lang="ja-JP" altLang="en-US" smtClean="0"/>
              <a:t>2023/7/10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44322A-372B-C92F-4328-BDEC2E417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0E5A45-1E9A-8F75-1701-13950A05D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56B14-F48D-4279-A802-1BFB2971EB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861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kumimoji="1"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kumimoji="1"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7B984DB-1B89-4942-B810-FD00B0C204A7" descr="名称未設定-9 コピー (1) 01 アートボード 1.jpg">
            <a:extLst>
              <a:ext uri="{FF2B5EF4-FFF2-40B4-BE49-F238E27FC236}">
                <a16:creationId xmlns:a16="http://schemas.microsoft.com/office/drawing/2014/main" id="{CC858F2F-600C-2762-CCEB-F6B7331F0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4580"/>
            <a:ext cx="6858000" cy="9696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34230E35-62F7-F0FE-EF05-563A43387751}"/>
              </a:ext>
            </a:extLst>
          </p:cNvPr>
          <p:cNvSpPr/>
          <p:nvPr/>
        </p:nvSpPr>
        <p:spPr>
          <a:xfrm>
            <a:off x="0" y="7008161"/>
            <a:ext cx="6858000" cy="2897839"/>
          </a:xfrm>
          <a:prstGeom prst="rect">
            <a:avLst/>
          </a:prstGeom>
          <a:solidFill>
            <a:srgbClr val="5C8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28E4D5E-FD09-08E2-4350-923E9E9CF773}"/>
              </a:ext>
            </a:extLst>
          </p:cNvPr>
          <p:cNvSpPr txBox="1"/>
          <p:nvPr/>
        </p:nvSpPr>
        <p:spPr>
          <a:xfrm>
            <a:off x="422865" y="3186104"/>
            <a:ext cx="353541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ja-JP" altLang="en-US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セッション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1</a:t>
            </a:r>
            <a:r>
              <a:rPr lang="ja-JP" altLang="en-US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13:15</a:t>
            </a:r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〜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13:45</a:t>
            </a:r>
          </a:p>
          <a:p>
            <a:pPr algn="just"/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JT</a:t>
            </a:r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研究所紹介</a:t>
            </a:r>
            <a:r>
              <a:rPr lang="ja-JP" altLang="en-US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</a:t>
            </a:r>
            <a:endParaRPr lang="en-US" altLang="ja-JP" sz="1200" b="1" kern="100" dirty="0">
              <a:solidFill>
                <a:schemeClr val="bg2">
                  <a:lumMod val="25000"/>
                </a:schemeClr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algn="just"/>
            <a:endParaRPr lang="ja-JP" altLang="ja-JP" sz="1200" b="1" kern="100" dirty="0">
              <a:solidFill>
                <a:schemeClr val="bg2">
                  <a:lumMod val="25000"/>
                </a:schemeClr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algn="just"/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セッション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2</a:t>
            </a:r>
            <a:r>
              <a:rPr lang="ja-JP" altLang="en-US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13:45</a:t>
            </a:r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〜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15:15</a:t>
            </a:r>
          </a:p>
          <a:p>
            <a:pPr algn="just"/>
            <a:r>
              <a:rPr lang="ja-JP" altLang="en-US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「</a:t>
            </a:r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代謝と老化制御</a:t>
            </a:r>
            <a:r>
              <a:rPr lang="ja-JP" altLang="en-US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」</a:t>
            </a:r>
            <a:endParaRPr lang="ja-JP" altLang="ja-JP" sz="1200" b="1" kern="100" dirty="0">
              <a:solidFill>
                <a:schemeClr val="bg2">
                  <a:lumMod val="25000"/>
                </a:schemeClr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algn="l"/>
            <a:r>
              <a:rPr lang="ja-JP" altLang="ja-JP" sz="1200" kern="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ＭＳ Ｐゴシック" panose="020B0600070205080204" pitchFamily="50" charset="-128"/>
              </a:rPr>
              <a:t>尾﨑</a:t>
            </a:r>
            <a:r>
              <a:rPr lang="ja-JP" altLang="en-US" sz="1200" kern="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ＭＳ Ｐゴシック" panose="020B0600070205080204" pitchFamily="50" charset="-128"/>
              </a:rPr>
              <a:t>　　</a:t>
            </a:r>
            <a:r>
              <a:rPr lang="ja-JP" altLang="ja-JP" sz="1200" kern="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ＭＳ Ｐゴシック" panose="020B0600070205080204" pitchFamily="50" charset="-128"/>
              </a:rPr>
              <a:t>拓（岩手大学）</a:t>
            </a:r>
            <a:endParaRPr lang="ja-JP" altLang="ja-JP" sz="1200" kern="100" dirty="0">
              <a:solidFill>
                <a:schemeClr val="bg2">
                  <a:lumMod val="25000"/>
                </a:schemeClr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algn="l"/>
            <a:r>
              <a:rPr lang="ja-JP" altLang="ja-JP" sz="1200" kern="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ＭＳ Ｐゴシック" panose="020B0600070205080204" pitchFamily="50" charset="-128"/>
              </a:rPr>
              <a:t>伯野　史彦（東京大学）</a:t>
            </a:r>
            <a:endParaRPr lang="ja-JP" altLang="ja-JP" sz="1200" kern="100" dirty="0">
              <a:solidFill>
                <a:schemeClr val="bg2">
                  <a:lumMod val="25000"/>
                </a:schemeClr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algn="just"/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國府</a:t>
            </a:r>
            <a:r>
              <a:rPr lang="ja-JP" altLang="en-US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</a:t>
            </a:r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大智（カゴメ株式会社）</a:t>
            </a:r>
            <a:endParaRPr lang="en-US" altLang="ja-JP" sz="1200" kern="100" dirty="0">
              <a:solidFill>
                <a:schemeClr val="bg2">
                  <a:lumMod val="25000"/>
                </a:schemeClr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algn="just"/>
            <a:endParaRPr lang="ja-JP" altLang="ja-JP" sz="1200" b="1" kern="100" dirty="0">
              <a:solidFill>
                <a:schemeClr val="bg2">
                  <a:lumMod val="25000"/>
                </a:schemeClr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algn="just"/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セッション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3</a:t>
            </a:r>
            <a:r>
              <a:rPr lang="ja-JP" altLang="en-US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15:25</a:t>
            </a:r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〜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16:55</a:t>
            </a:r>
          </a:p>
          <a:p>
            <a:pPr algn="just"/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「構造と機能で挑むレドックス研究」</a:t>
            </a:r>
          </a:p>
          <a:p>
            <a:pPr algn="just"/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椎葉</a:t>
            </a:r>
            <a:r>
              <a:rPr lang="ja-JP" altLang="en-US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　</a:t>
            </a:r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一心（学習院大学）</a:t>
            </a:r>
            <a:endParaRPr lang="en-US" altLang="ja-JP" sz="1200" kern="100" dirty="0">
              <a:solidFill>
                <a:schemeClr val="bg2">
                  <a:lumMod val="25000"/>
                </a:schemeClr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algn="just"/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徳永</a:t>
            </a:r>
            <a:r>
              <a:rPr lang="ja-JP" altLang="en-US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　</a:t>
            </a:r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裕二（東京大学）</a:t>
            </a:r>
          </a:p>
          <a:p>
            <a:pPr algn="just"/>
            <a:r>
              <a:rPr lang="ja-JP" altLang="ja-JP" sz="1200" kern="10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本橋</a:t>
            </a:r>
            <a:r>
              <a:rPr lang="ja-JP" altLang="en-US" sz="1200" kern="10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</a:t>
            </a:r>
            <a:r>
              <a:rPr lang="ja-JP" altLang="ja-JP" sz="1200" kern="10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ほづみ（東北大学）</a:t>
            </a:r>
          </a:p>
          <a:p>
            <a:pPr algn="just"/>
            <a:endParaRPr lang="ja-JP" altLang="ja-JP" sz="1200" b="1" kern="100" dirty="0">
              <a:solidFill>
                <a:schemeClr val="bg2">
                  <a:lumMod val="25000"/>
                </a:schemeClr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algn="just"/>
            <a:r>
              <a:rPr lang="ja-JP" altLang="en-US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セッション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4</a:t>
            </a:r>
            <a:r>
              <a:rPr lang="ja-JP" altLang="en-US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17:10</a:t>
            </a:r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〜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18:40</a:t>
            </a:r>
          </a:p>
          <a:p>
            <a:pPr algn="just"/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特別講演</a:t>
            </a:r>
            <a:r>
              <a:rPr lang="ja-JP" altLang="en-US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</a:t>
            </a:r>
            <a:endParaRPr lang="ja-JP" altLang="ja-JP" sz="1200" b="1" kern="100" dirty="0">
              <a:solidFill>
                <a:schemeClr val="bg2">
                  <a:lumMod val="25000"/>
                </a:schemeClr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algn="just"/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岸　</a:t>
            </a:r>
            <a:r>
              <a:rPr lang="ja-JP" altLang="en-US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</a:t>
            </a:r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拓弥（国際医療福祉大学）</a:t>
            </a:r>
            <a:endParaRPr lang="en-US" altLang="ja-JP" sz="1200" kern="100" dirty="0">
              <a:solidFill>
                <a:schemeClr val="bg2">
                  <a:lumMod val="25000"/>
                </a:schemeClr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algn="just"/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津川</a:t>
            </a:r>
            <a:r>
              <a:rPr lang="ja-JP" altLang="en-US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</a:t>
            </a:r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裕司（東京農工大学）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359227-ADB4-8D64-0D25-978D1AE945F2}"/>
              </a:ext>
            </a:extLst>
          </p:cNvPr>
          <p:cNvSpPr txBox="1"/>
          <p:nvPr/>
        </p:nvSpPr>
        <p:spPr>
          <a:xfrm>
            <a:off x="3574590" y="3186104"/>
            <a:ext cx="308608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セッション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latin typeface="+mn-ea"/>
                <a:cs typeface="Times New Roman" panose="02020603050405020304" pitchFamily="18" charset="0"/>
              </a:rPr>
              <a:t>5</a:t>
            </a:r>
            <a:r>
              <a:rPr lang="ja-JP" altLang="en-US" sz="1200" b="1" kern="100" dirty="0">
                <a:solidFill>
                  <a:schemeClr val="bg2">
                    <a:lumMod val="25000"/>
                  </a:schemeClr>
                </a:solidFill>
                <a:latin typeface="+mn-ea"/>
                <a:cs typeface="Times New Roman" panose="02020603050405020304" pitchFamily="18" charset="0"/>
              </a:rPr>
              <a:t>　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 9:20</a:t>
            </a:r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〜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10:50 </a:t>
            </a:r>
          </a:p>
          <a:p>
            <a:pPr algn="just"/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「細胞機能解析・疾患マーカーを目指した化学プローブの開発」</a:t>
            </a:r>
          </a:p>
          <a:p>
            <a:pPr algn="just"/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小松</a:t>
            </a:r>
            <a:r>
              <a:rPr lang="ja-JP" altLang="en-US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　　</a:t>
            </a:r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徹</a:t>
            </a:r>
            <a:r>
              <a:rPr lang="en-US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（東京大学）</a:t>
            </a:r>
          </a:p>
          <a:p>
            <a:pPr algn="just"/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平山</a:t>
            </a:r>
            <a:r>
              <a:rPr lang="ja-JP" altLang="en-US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　　</a:t>
            </a:r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祐 （岐阜薬科大学）</a:t>
            </a:r>
          </a:p>
          <a:p>
            <a:pPr algn="just"/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中川</a:t>
            </a:r>
            <a:r>
              <a:rPr lang="ja-JP" altLang="en-US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　</a:t>
            </a:r>
            <a:r>
              <a:rPr lang="ja-JP" altLang="ja-JP" sz="1200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秀彦 （名古屋市立大学）</a:t>
            </a:r>
            <a:endParaRPr lang="en-US" altLang="ja-JP" sz="1200" kern="100" dirty="0">
              <a:solidFill>
                <a:schemeClr val="bg2">
                  <a:lumMod val="25000"/>
                </a:schemeClr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endParaRPr lang="en-US" altLang="ja-JP" sz="1200" b="1" kern="100" dirty="0">
              <a:solidFill>
                <a:schemeClr val="bg2">
                  <a:lumMod val="25000"/>
                </a:schemeClr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セッション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latin typeface="+mn-ea"/>
                <a:cs typeface="Times New Roman" panose="02020603050405020304" pitchFamily="18" charset="0"/>
              </a:rPr>
              <a:t>6</a:t>
            </a:r>
            <a:r>
              <a:rPr lang="ja-JP" altLang="en-US" sz="1200" b="1" kern="100" dirty="0">
                <a:solidFill>
                  <a:schemeClr val="bg2">
                    <a:lumMod val="25000"/>
                  </a:schemeClr>
                </a:solidFill>
                <a:latin typeface="+mn-ea"/>
                <a:cs typeface="Times New Roman" panose="02020603050405020304" pitchFamily="18" charset="0"/>
              </a:rPr>
              <a:t>　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11:00</a:t>
            </a:r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〜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12:30</a:t>
            </a:r>
            <a:endParaRPr lang="ja-JP" altLang="ja-JP" sz="1200" b="1" kern="100" dirty="0">
              <a:solidFill>
                <a:schemeClr val="bg2">
                  <a:lumMod val="25000"/>
                </a:schemeClr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ja-JP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「若手研究者が切り拓くレドックス研究の新展開」</a:t>
            </a:r>
            <a:r>
              <a:rPr lang="en-US" altLang="ja-JP" sz="1200" b="1" kern="10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ja-JP" altLang="ja-JP" sz="1200" kern="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ＭＳ Ｐゴシック" panose="020B0600070205080204" pitchFamily="50" charset="-128"/>
              </a:rPr>
              <a:t>荒木</a:t>
            </a:r>
            <a:r>
              <a:rPr lang="ja-JP" altLang="en-US" sz="1200" kern="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ＭＳ Ｐゴシック" panose="020B0600070205080204" pitchFamily="50" charset="-128"/>
              </a:rPr>
              <a:t>　　</a:t>
            </a:r>
            <a:r>
              <a:rPr lang="ja-JP" altLang="ja-JP" sz="1200" kern="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ＭＳ Ｐゴシック" panose="020B0600070205080204" pitchFamily="50" charset="-128"/>
              </a:rPr>
              <a:t>笙馬（昭和薬科大学）</a:t>
            </a:r>
            <a:endParaRPr lang="ja-JP" altLang="ja-JP" sz="1200" kern="100" dirty="0">
              <a:solidFill>
                <a:schemeClr val="bg2">
                  <a:lumMod val="25000"/>
                </a:schemeClr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ja-JP" altLang="ja-JP" sz="1200" kern="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ＭＳ Ｐゴシック" panose="020B0600070205080204" pitchFamily="50" charset="-128"/>
              </a:rPr>
              <a:t>三田</a:t>
            </a:r>
            <a:r>
              <a:rPr lang="ja-JP" altLang="en-US" sz="1200" kern="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ＭＳ Ｐゴシック" panose="020B0600070205080204" pitchFamily="50" charset="-128"/>
              </a:rPr>
              <a:t>　</a:t>
            </a:r>
            <a:r>
              <a:rPr lang="ja-JP" altLang="ja-JP" sz="1200" kern="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ＭＳ Ｐゴシック" panose="020B0600070205080204" pitchFamily="50" charset="-128"/>
              </a:rPr>
              <a:t>雄一郎（同志社大学）</a:t>
            </a:r>
            <a:endParaRPr lang="ja-JP" altLang="ja-JP" sz="1200" kern="100" dirty="0">
              <a:solidFill>
                <a:schemeClr val="bg2">
                  <a:lumMod val="25000"/>
                </a:schemeClr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ja-JP" altLang="ja-JP" sz="1200" kern="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ＭＳ Ｐゴシック" panose="020B0600070205080204" pitchFamily="50" charset="-128"/>
              </a:rPr>
              <a:t>笠松</a:t>
            </a:r>
            <a:r>
              <a:rPr lang="ja-JP" altLang="en-US" sz="1200" kern="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ＭＳ Ｐゴシック" panose="020B0600070205080204" pitchFamily="50" charset="-128"/>
              </a:rPr>
              <a:t>　　</a:t>
            </a:r>
            <a:r>
              <a:rPr lang="ja-JP" altLang="ja-JP" sz="1200" kern="0" dirty="0">
                <a:solidFill>
                  <a:schemeClr val="bg2">
                    <a:lumMod val="25000"/>
                  </a:schemeClr>
                </a:solidFill>
                <a:effectLst/>
                <a:latin typeface="+mn-ea"/>
                <a:cs typeface="ＭＳ Ｐゴシック" panose="020B0600070205080204" pitchFamily="50" charset="-128"/>
              </a:rPr>
              <a:t>真吾（大阪公立大学</a:t>
            </a:r>
            <a:r>
              <a:rPr lang="ja-JP" altLang="en-US" sz="1200" kern="0" dirty="0">
                <a:solidFill>
                  <a:schemeClr val="bg2">
                    <a:lumMod val="25000"/>
                  </a:schemeClr>
                </a:solidFill>
                <a:latin typeface="+mn-ea"/>
                <a:cs typeface="ＭＳ Ｐゴシック" panose="020B0600070205080204" pitchFamily="50" charset="-128"/>
              </a:rPr>
              <a:t>）</a:t>
            </a:r>
            <a:endParaRPr lang="ja-JP" altLang="en-US" sz="12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B3D2494-7DC8-7CFB-EBEF-308158FB6674}"/>
              </a:ext>
            </a:extLst>
          </p:cNvPr>
          <p:cNvSpPr txBox="1"/>
          <p:nvPr/>
        </p:nvSpPr>
        <p:spPr>
          <a:xfrm>
            <a:off x="422865" y="2685981"/>
            <a:ext cx="3761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ja-JP" sz="1400" b="1" kern="100" dirty="0">
                <a:solidFill>
                  <a:schemeClr val="accent6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8</a:t>
            </a:r>
            <a:r>
              <a:rPr lang="ja-JP" altLang="en-US" sz="1400" b="1" kern="100" dirty="0">
                <a:solidFill>
                  <a:schemeClr val="accent6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ja-JP" sz="1400" b="1" kern="100" dirty="0">
                <a:solidFill>
                  <a:schemeClr val="accent6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25</a:t>
            </a:r>
            <a:r>
              <a:rPr lang="ja-JP" altLang="en-US" sz="1400" b="1" kern="100" dirty="0">
                <a:solidFill>
                  <a:schemeClr val="accent6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日</a:t>
            </a:r>
            <a:r>
              <a:rPr lang="en-US" altLang="ja-JP" sz="1400" b="1" kern="100" dirty="0">
                <a:solidFill>
                  <a:schemeClr val="accent6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altLang="ja-JP" sz="1400" b="1" kern="100" dirty="0">
                <a:solidFill>
                  <a:schemeClr val="accent6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JT</a:t>
            </a:r>
            <a:r>
              <a:rPr lang="ja-JP" altLang="ja-JP" sz="1400" b="1" kern="100" dirty="0">
                <a:solidFill>
                  <a:schemeClr val="accent6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たばこ中央研究所　大会議室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059A89B-7F85-BF3B-0350-D83AC06E6E0A}"/>
              </a:ext>
            </a:extLst>
          </p:cNvPr>
          <p:cNvSpPr txBox="1"/>
          <p:nvPr/>
        </p:nvSpPr>
        <p:spPr>
          <a:xfrm>
            <a:off x="3574590" y="2685981"/>
            <a:ext cx="3535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ja-JP" sz="1400" b="1" kern="100" dirty="0">
                <a:solidFill>
                  <a:schemeClr val="accent6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8</a:t>
            </a:r>
            <a:r>
              <a:rPr lang="ja-JP" altLang="en-US" sz="1400" b="1" kern="100" dirty="0">
                <a:solidFill>
                  <a:schemeClr val="accent6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ja-JP" sz="1400" b="1" kern="100" dirty="0">
                <a:solidFill>
                  <a:schemeClr val="accent6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26</a:t>
            </a:r>
            <a:r>
              <a:rPr lang="ja-JP" altLang="en-US" sz="1400" b="1" kern="100" dirty="0">
                <a:solidFill>
                  <a:schemeClr val="accent6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日</a:t>
            </a:r>
            <a:endParaRPr lang="en-US" altLang="ja-JP" sz="1400" b="1" kern="100" dirty="0">
              <a:solidFill>
                <a:schemeClr val="accent6">
                  <a:lumMod val="50000"/>
                </a:schemeClr>
              </a:solidFill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ja-JP" altLang="ja-JP" sz="1400" b="1" kern="100" dirty="0">
                <a:solidFill>
                  <a:schemeClr val="accent6">
                    <a:lumMod val="50000"/>
                  </a:schemeClr>
                </a:solidFill>
                <a:latin typeface="+mn-ea"/>
                <a:cs typeface="Times New Roman" panose="02020603050405020304" pitchFamily="18" charset="0"/>
              </a:rPr>
              <a:t>青葉台フォーラム　会議室「青葉」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2BB37E3-6773-9A0C-8909-41A52911C4F3}"/>
              </a:ext>
            </a:extLst>
          </p:cNvPr>
          <p:cNvSpPr txBox="1"/>
          <p:nvPr/>
        </p:nvSpPr>
        <p:spPr>
          <a:xfrm>
            <a:off x="966798" y="1670033"/>
            <a:ext cx="5119489" cy="890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altLang="ja-JP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8</a:t>
            </a:r>
            <a:r>
              <a:rPr lang="ja-JP" altLang="en-US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月</a:t>
            </a:r>
            <a:r>
              <a:rPr lang="en-US" altLang="ja-JP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25</a:t>
            </a:r>
            <a:r>
              <a:rPr lang="ja-JP" altLang="en-US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日</a:t>
            </a:r>
            <a:r>
              <a:rPr lang="en-US" altLang="ja-JP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(</a:t>
            </a:r>
            <a:r>
              <a:rPr lang="ja-JP" altLang="en-US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金</a:t>
            </a:r>
            <a:r>
              <a:rPr lang="en-US" altLang="ja-JP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)</a:t>
            </a:r>
            <a:r>
              <a:rPr lang="ja-JP" altLang="en-US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</a:t>
            </a:r>
            <a:r>
              <a:rPr lang="en-US" altLang="ja-JP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JT</a:t>
            </a:r>
            <a:r>
              <a:rPr lang="ja-JP" altLang="en-US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たばこ中央研究所　大会議室</a:t>
            </a:r>
            <a:endParaRPr lang="en-US" altLang="ja-JP" sz="1600" b="1" kern="100" spc="100" dirty="0">
              <a:solidFill>
                <a:schemeClr val="bg2">
                  <a:lumMod val="25000"/>
                </a:schemeClr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algn="just">
              <a:lnSpc>
                <a:spcPts val="2100"/>
              </a:lnSpc>
            </a:pPr>
            <a:r>
              <a:rPr lang="en-US" altLang="ja-JP" sz="1600" b="1" kern="100" spc="100" dirty="0">
                <a:solidFill>
                  <a:schemeClr val="bg2">
                    <a:lumMod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8</a:t>
            </a:r>
            <a:r>
              <a:rPr lang="ja-JP" altLang="en-US" sz="1600" b="1" kern="100" spc="100" dirty="0">
                <a:solidFill>
                  <a:schemeClr val="bg2">
                    <a:lumMod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月</a:t>
            </a:r>
            <a:r>
              <a:rPr lang="en-US" altLang="ja-JP" sz="1600" b="1" kern="100" spc="100" dirty="0">
                <a:solidFill>
                  <a:schemeClr val="bg2">
                    <a:lumMod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26</a:t>
            </a:r>
            <a:r>
              <a:rPr lang="ja-JP" altLang="en-US" sz="1600" b="1" kern="100" spc="100" dirty="0">
                <a:solidFill>
                  <a:schemeClr val="bg2">
                    <a:lumMod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日</a:t>
            </a:r>
            <a:r>
              <a:rPr lang="en-US" altLang="ja-JP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(</a:t>
            </a:r>
            <a:r>
              <a:rPr lang="ja-JP" altLang="en-US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土</a:t>
            </a:r>
            <a:r>
              <a:rPr lang="en-US" altLang="ja-JP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)</a:t>
            </a:r>
            <a:r>
              <a:rPr lang="ja-JP" altLang="en-US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　</a:t>
            </a:r>
            <a:r>
              <a:rPr lang="ja-JP" altLang="en-US" sz="1600" b="1" kern="100" spc="100" dirty="0">
                <a:solidFill>
                  <a:schemeClr val="bg2">
                    <a:lumMod val="2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青葉台フォーラム　会議室「青葉」</a:t>
            </a:r>
            <a:endParaRPr lang="en-US" altLang="ja-JP" sz="1600" b="1" kern="100" spc="100" dirty="0">
              <a:solidFill>
                <a:schemeClr val="bg2">
                  <a:lumMod val="25000"/>
                </a:schemeClr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</a:pPr>
            <a:r>
              <a:rPr lang="ja-JP" altLang="en-US" sz="1600" b="1" kern="100" spc="100" dirty="0">
                <a:solidFill>
                  <a:schemeClr val="bg2">
                    <a:lumMod val="25000"/>
                  </a:schemeClr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オンサイト開催のみ</a:t>
            </a:r>
            <a:endParaRPr lang="ja-JP" altLang="ja-JP" sz="1600" b="1" kern="100" spc="100" dirty="0">
              <a:solidFill>
                <a:schemeClr val="bg2">
                  <a:lumMod val="25000"/>
                </a:schemeClr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3ABD47B-9010-716B-83FD-BB79913F2D99}"/>
              </a:ext>
            </a:extLst>
          </p:cNvPr>
          <p:cNvSpPr txBox="1"/>
          <p:nvPr/>
        </p:nvSpPr>
        <p:spPr>
          <a:xfrm>
            <a:off x="3682449" y="6501620"/>
            <a:ext cx="19773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ja-JP" altLang="en-US" sz="1050" kern="100" dirty="0"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世話人：高浪　雄一郎</a:t>
            </a:r>
            <a:r>
              <a:rPr lang="en-US" altLang="ja-JP" sz="1050" kern="100" dirty="0"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(JT)</a:t>
            </a:r>
            <a:endParaRPr lang="ja-JP" altLang="ja-JP" sz="1050" kern="100" dirty="0"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46AAFBC-BEFA-2019-9082-43695ECE8471}"/>
              </a:ext>
            </a:extLst>
          </p:cNvPr>
          <p:cNvSpPr txBox="1"/>
          <p:nvPr/>
        </p:nvSpPr>
        <p:spPr>
          <a:xfrm>
            <a:off x="323422" y="9085914"/>
            <a:ext cx="356941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ja-JP" altLang="en-US" sz="105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レドックス</a:t>
            </a:r>
            <a:r>
              <a:rPr lang="en-US" altLang="ja-JP" sz="105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R&amp;D</a:t>
            </a:r>
            <a:r>
              <a:rPr lang="ja-JP" altLang="en-US" sz="105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戦略委員会事務局</a:t>
            </a:r>
          </a:p>
          <a:p>
            <a:pPr algn="just"/>
            <a:r>
              <a:rPr lang="ja-JP" altLang="en-US" sz="105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弘前大学大学院医学研究科分子生体防御学講座内</a:t>
            </a:r>
          </a:p>
          <a:p>
            <a:pPr algn="just"/>
            <a:r>
              <a:rPr lang="en-US" altLang="ja-JP" sz="105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redox@hirosaki-u.ac.jp</a:t>
            </a:r>
            <a:endParaRPr lang="ja-JP" altLang="ja-JP" sz="1050" b="1" kern="100" dirty="0">
              <a:solidFill>
                <a:srgbClr val="FFFFFF"/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805BCD7-A98C-1800-4CC9-B1B36C3028C6}"/>
              </a:ext>
            </a:extLst>
          </p:cNvPr>
          <p:cNvSpPr/>
          <p:nvPr/>
        </p:nvSpPr>
        <p:spPr>
          <a:xfrm flipH="1">
            <a:off x="355599" y="2723572"/>
            <a:ext cx="54564" cy="3993933"/>
          </a:xfrm>
          <a:prstGeom prst="rect">
            <a:avLst/>
          </a:prstGeom>
          <a:solidFill>
            <a:srgbClr val="5C8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364ED26-22EE-80CB-588D-B907073DEA86}"/>
              </a:ext>
            </a:extLst>
          </p:cNvPr>
          <p:cNvSpPr/>
          <p:nvPr/>
        </p:nvSpPr>
        <p:spPr>
          <a:xfrm>
            <a:off x="3507888" y="2723573"/>
            <a:ext cx="54000" cy="2997312"/>
          </a:xfrm>
          <a:prstGeom prst="rect">
            <a:avLst/>
          </a:prstGeom>
          <a:solidFill>
            <a:srgbClr val="5C8F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EE8C44D-B0F9-5E7E-D500-92B67A11F806}"/>
              </a:ext>
            </a:extLst>
          </p:cNvPr>
          <p:cNvGrpSpPr/>
          <p:nvPr/>
        </p:nvGrpSpPr>
        <p:grpSpPr>
          <a:xfrm>
            <a:off x="264487" y="7144997"/>
            <a:ext cx="3541028" cy="1499617"/>
            <a:chOff x="3446899" y="6367083"/>
            <a:chExt cx="3541028" cy="1499617"/>
          </a:xfrm>
        </p:grpSpPr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60D5A27B-6062-42A3-42B2-36BD1AC2EF55}"/>
                </a:ext>
              </a:extLst>
            </p:cNvPr>
            <p:cNvSpPr txBox="1"/>
            <p:nvPr/>
          </p:nvSpPr>
          <p:spPr>
            <a:xfrm>
              <a:off x="3454519" y="6715551"/>
              <a:ext cx="3533408" cy="1151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ja-JP" altLang="en-US" sz="1100" b="1" kern="100" dirty="0">
                  <a:solidFill>
                    <a:srgbClr val="FFFFFF"/>
                  </a:solidFill>
                  <a:effectLst/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事前申し込み締切：</a:t>
              </a:r>
              <a:r>
                <a:rPr lang="en-US" altLang="ja-JP" sz="1100" b="1" kern="100" dirty="0">
                  <a:solidFill>
                    <a:srgbClr val="FFFFFF"/>
                  </a:solidFill>
                  <a:effectLst/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2023</a:t>
              </a:r>
              <a:r>
                <a:rPr lang="ja-JP" altLang="en-US" sz="1100" b="1" kern="100" dirty="0">
                  <a:solidFill>
                    <a:srgbClr val="FFFFFF"/>
                  </a:solidFill>
                  <a:effectLst/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年</a:t>
              </a:r>
              <a:r>
                <a:rPr lang="en-US" altLang="ja-JP" sz="1100" b="1" kern="100" dirty="0">
                  <a:solidFill>
                    <a:srgbClr val="FFFFFF"/>
                  </a:solidFill>
                  <a:effectLst/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8</a:t>
              </a:r>
              <a:r>
                <a:rPr lang="ja-JP" altLang="en-US" sz="1100" b="1" kern="100" dirty="0">
                  <a:solidFill>
                    <a:srgbClr val="FFFFFF"/>
                  </a:solidFill>
                  <a:effectLst/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月</a:t>
              </a:r>
              <a:r>
                <a:rPr lang="en-US" altLang="ja-JP" sz="1100" b="1" kern="100" dirty="0">
                  <a:solidFill>
                    <a:srgbClr val="FFFFFF"/>
                  </a:solidFill>
                  <a:effectLst/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3</a:t>
              </a:r>
              <a:r>
                <a:rPr lang="ja-JP" altLang="en-US" sz="1100" b="1" kern="100" dirty="0">
                  <a:solidFill>
                    <a:srgbClr val="FFFFFF"/>
                  </a:solidFill>
                  <a:effectLst/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日</a:t>
              </a:r>
              <a:endParaRPr lang="en-US" altLang="ja-JP" sz="1100" b="1" kern="100" dirty="0">
                <a:solidFill>
                  <a:srgbClr val="FFFFFF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endParaRPr>
            </a:p>
            <a:p>
              <a:pPr algn="just"/>
              <a:r>
                <a:rPr lang="ja-JP" altLang="en-US" sz="1100" b="1" kern="100" dirty="0">
                  <a:solidFill>
                    <a:srgbClr val="FFFFFF"/>
                  </a:solidFill>
                  <a:effectLst/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参加費：無料</a:t>
              </a:r>
              <a:endParaRPr lang="en-US" altLang="ja-JP" sz="1100" b="1" kern="100" dirty="0">
                <a:solidFill>
                  <a:srgbClr val="FFFFFF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endParaRPr>
            </a:p>
            <a:p>
              <a:pPr marL="808038" indent="-808038" algn="just"/>
              <a:r>
                <a:rPr lang="ja-JP" altLang="en-US" sz="1100" b="1" kern="100" dirty="0">
                  <a:solidFill>
                    <a:srgbClr val="FFFFFF"/>
                  </a:solidFill>
                  <a:effectLst/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登録方法：以下のリンクまたは</a:t>
              </a:r>
              <a:r>
                <a:rPr lang="en-US" altLang="ja-JP" sz="1100" b="1" kern="100" dirty="0">
                  <a:solidFill>
                    <a:srgbClr val="FFFFFF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QR</a:t>
              </a:r>
              <a:r>
                <a:rPr lang="ja-JP" altLang="en-US" sz="1100" b="1" kern="100" dirty="0">
                  <a:solidFill>
                    <a:srgbClr val="FFFFFF"/>
                  </a:solidFill>
                  <a:effectLst/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コードから</a:t>
              </a:r>
              <a:endParaRPr lang="en-US" altLang="ja-JP" sz="1100" b="1" kern="100" dirty="0">
                <a:solidFill>
                  <a:srgbClr val="FFFFFF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endParaRPr>
            </a:p>
            <a:p>
              <a:pPr marL="808038" indent="-808038" algn="just"/>
              <a:r>
                <a:rPr lang="ja-JP" altLang="en-US" sz="1100" b="1" kern="100" dirty="0">
                  <a:solidFill>
                    <a:srgbClr val="FFFFFF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　　　　　</a:t>
              </a:r>
              <a:r>
                <a:rPr lang="ja-JP" altLang="en-US" sz="1100" b="1" kern="100" dirty="0">
                  <a:solidFill>
                    <a:srgbClr val="FFFFFF"/>
                  </a:solidFill>
                  <a:effectLst/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ご登録ください</a:t>
              </a:r>
              <a:endParaRPr lang="en-US" altLang="ja-JP" sz="1100" b="1" kern="100" dirty="0">
                <a:solidFill>
                  <a:srgbClr val="FFFFFF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endParaRPr>
            </a:p>
            <a:p>
              <a:pPr marL="715963" algn="just"/>
              <a:r>
                <a:rPr lang="ja-JP" altLang="en-US" sz="1100" b="1" kern="100" dirty="0">
                  <a:solidFill>
                    <a:srgbClr val="FFFFFF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（事前申し込み必須）</a:t>
              </a:r>
              <a:endParaRPr lang="en-US" altLang="ja-JP" sz="11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endParaRPr>
            </a:p>
            <a:p>
              <a:pPr algn="just">
                <a:lnSpc>
                  <a:spcPts val="1800"/>
                </a:lnSpc>
              </a:pPr>
              <a:r>
                <a:rPr lang="en-US" altLang="ja-JP" sz="1050" b="1" u="sng" kern="100" dirty="0">
                  <a:solidFill>
                    <a:srgbClr val="FFFFFF"/>
                  </a:solidFill>
                  <a:effectLst/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https://forms.gle/ky5mfJHKBhsTZpYZA</a:t>
              </a:r>
              <a:endParaRPr lang="ja-JP" altLang="ja-JP" sz="1050" b="1" u="sng" kern="100" dirty="0">
                <a:solidFill>
                  <a:srgbClr val="FFFFFF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E2AF2B4A-4492-A42C-8CD3-5FDD9CE055C3}"/>
                </a:ext>
              </a:extLst>
            </p:cNvPr>
            <p:cNvSpPr txBox="1"/>
            <p:nvPr/>
          </p:nvSpPr>
          <p:spPr>
            <a:xfrm>
              <a:off x="3446899" y="6367083"/>
              <a:ext cx="12722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ja-JP" altLang="en-US" sz="1400" b="1" kern="100" dirty="0">
                  <a:solidFill>
                    <a:srgbClr val="FFFFFF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Times New Roman" panose="02020603050405020304" pitchFamily="18" charset="0"/>
                </a:rPr>
                <a:t>参加申し込み</a:t>
              </a:r>
              <a:endParaRPr lang="en-US" altLang="ja-JP" sz="14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54531C7-12C0-C59E-1B05-17573A2B26FC}"/>
              </a:ext>
            </a:extLst>
          </p:cNvPr>
          <p:cNvSpPr txBox="1"/>
          <p:nvPr/>
        </p:nvSpPr>
        <p:spPr>
          <a:xfrm>
            <a:off x="3638503" y="7418695"/>
            <a:ext cx="32961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zh-TW" altLang="en-US" sz="11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東急田園都市線　青葉台駅下車</a:t>
            </a:r>
            <a:endParaRPr lang="en-US" altLang="zh-TW" sz="1100" b="1" kern="100" dirty="0">
              <a:solidFill>
                <a:srgbClr val="FFFFFF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marL="357188" indent="-357188" algn="just">
              <a:tabLst>
                <a:tab pos="357188" algn="l"/>
              </a:tabLst>
            </a:pPr>
            <a:r>
              <a:rPr lang="en-US" altLang="ja-JP" sz="11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JT</a:t>
            </a:r>
            <a:r>
              <a:rPr lang="ja-JP" altLang="en-US" sz="11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：徒歩</a:t>
            </a:r>
            <a:r>
              <a:rPr lang="en-US" altLang="ja-JP" sz="11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15</a:t>
            </a:r>
            <a:r>
              <a:rPr lang="ja-JP" altLang="en-US" sz="11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分または東急バス（青</a:t>
            </a:r>
            <a:r>
              <a:rPr lang="en-US" altLang="ja-JP" sz="11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81</a:t>
            </a:r>
            <a:r>
              <a:rPr lang="ja-JP" altLang="en-US" sz="11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、青</a:t>
            </a:r>
            <a:r>
              <a:rPr lang="en-US" altLang="ja-JP" sz="11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82</a:t>
            </a:r>
            <a:r>
              <a:rPr lang="ja-JP" altLang="en-US" sz="11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）　　　　 藤が丘小学校下車</a:t>
            </a:r>
            <a:endParaRPr lang="en-US" altLang="zh-TW" sz="1100" b="1" kern="100" dirty="0">
              <a:solidFill>
                <a:srgbClr val="FFFFFF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  <a:p>
            <a:pPr algn="just"/>
            <a:r>
              <a:rPr lang="ja-JP" altLang="en-US" sz="11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青葉台フォーラム：徒歩</a:t>
            </a:r>
            <a:r>
              <a:rPr lang="en-US" altLang="ja-JP" sz="11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3</a:t>
            </a:r>
            <a:r>
              <a:rPr lang="ja-JP" altLang="en-US" sz="11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分</a:t>
            </a:r>
            <a:endParaRPr lang="en-US" altLang="ja-JP" sz="1200" b="1" kern="100" dirty="0">
              <a:solidFill>
                <a:srgbClr val="FFFFFF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B8D9CB5-412F-DACD-D187-770EE54F9B09}"/>
              </a:ext>
            </a:extLst>
          </p:cNvPr>
          <p:cNvSpPr txBox="1"/>
          <p:nvPr/>
        </p:nvSpPr>
        <p:spPr>
          <a:xfrm>
            <a:off x="3623263" y="7136387"/>
            <a:ext cx="1042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ja-JP" altLang="en-US" sz="1400" b="1" kern="100" dirty="0">
                <a:solidFill>
                  <a:srgbClr val="FFFFFF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Times New Roman" panose="02020603050405020304" pitchFamily="18" charset="0"/>
              </a:rPr>
              <a:t>会場情報</a:t>
            </a:r>
            <a:endParaRPr lang="en-US" altLang="ja-JP" sz="1400" b="1" kern="100" dirty="0">
              <a:solidFill>
                <a:srgbClr val="FFFFFF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Times New Roman" panose="02020603050405020304" pitchFamily="18" charset="0"/>
            </a:endParaRPr>
          </a:p>
        </p:txBody>
      </p:sp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43AA61BA-E93F-427B-3D53-1E0680CF0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278" y="72898"/>
            <a:ext cx="719273" cy="697728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D27E519-B1DE-74A4-E0FB-BC8749190A62}"/>
              </a:ext>
            </a:extLst>
          </p:cNvPr>
          <p:cNvGrpSpPr/>
          <p:nvPr/>
        </p:nvGrpSpPr>
        <p:grpSpPr>
          <a:xfrm>
            <a:off x="3065656" y="8353697"/>
            <a:ext cx="557308" cy="577081"/>
            <a:chOff x="3113084" y="8046599"/>
            <a:chExt cx="557308" cy="577081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03E5CEDE-5C09-7A58-1A98-C66E1E3F55B1}"/>
                </a:ext>
              </a:extLst>
            </p:cNvPr>
            <p:cNvSpPr/>
            <p:nvPr/>
          </p:nvSpPr>
          <p:spPr>
            <a:xfrm>
              <a:off x="3113084" y="8046599"/>
              <a:ext cx="557308" cy="5770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" name="図 2" descr="QR コード&#10;&#10;自動的に生成された説明">
              <a:extLst>
                <a:ext uri="{FF2B5EF4-FFF2-40B4-BE49-F238E27FC236}">
                  <a16:creationId xmlns:a16="http://schemas.microsoft.com/office/drawing/2014/main" id="{F076C341-1CF8-677A-DCA7-75E7F7342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0090" y="8083492"/>
              <a:ext cx="503296" cy="503296"/>
            </a:xfrm>
            <a:prstGeom prst="rect">
              <a:avLst/>
            </a:prstGeom>
          </p:spPr>
        </p:pic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7C590850-9EDA-ABE1-8935-D6E599E522B8}"/>
              </a:ext>
            </a:extLst>
          </p:cNvPr>
          <p:cNvGrpSpPr/>
          <p:nvPr/>
        </p:nvGrpSpPr>
        <p:grpSpPr>
          <a:xfrm>
            <a:off x="4011596" y="8260018"/>
            <a:ext cx="2606276" cy="1613724"/>
            <a:chOff x="4011596" y="8364520"/>
            <a:chExt cx="2606276" cy="1613724"/>
          </a:xfrm>
        </p:grpSpPr>
        <p:pic>
          <p:nvPicPr>
            <p:cNvPr id="1027" name="91EAAB27-4B99-437F-B248-88EB250A13A2" descr="名称未設定-10 01 アートボード 1.jpg">
              <a:extLst>
                <a:ext uri="{FF2B5EF4-FFF2-40B4-BE49-F238E27FC236}">
                  <a16:creationId xmlns:a16="http://schemas.microsoft.com/office/drawing/2014/main" id="{1ACC3E66-19EE-7D88-E8EA-DE385B3727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4" t="8566" r="4607" b="10590"/>
            <a:stretch/>
          </p:blipFill>
          <p:spPr bwMode="auto">
            <a:xfrm>
              <a:off x="4051260" y="8364520"/>
              <a:ext cx="2537120" cy="1576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E3A05808-5626-3822-D3A2-1550FF9C4840}"/>
                </a:ext>
              </a:extLst>
            </p:cNvPr>
            <p:cNvSpPr txBox="1"/>
            <p:nvPr/>
          </p:nvSpPr>
          <p:spPr>
            <a:xfrm>
              <a:off x="4138612" y="8508544"/>
              <a:ext cx="49244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600" b="1" dirty="0">
                  <a:solidFill>
                    <a:schemeClr val="bg2">
                      <a:lumMod val="25000"/>
                    </a:schemeClr>
                  </a:solidFill>
                </a:rPr>
                <a:t>青葉台駅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9F43DEA6-12A9-6ED5-28EE-D52A4060871E}"/>
                </a:ext>
              </a:extLst>
            </p:cNvPr>
            <p:cNvSpPr txBox="1"/>
            <p:nvPr/>
          </p:nvSpPr>
          <p:spPr>
            <a:xfrm>
              <a:off x="6000749" y="8508544"/>
              <a:ext cx="49244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600" b="1" dirty="0">
                  <a:solidFill>
                    <a:schemeClr val="bg2">
                      <a:lumMod val="25000"/>
                    </a:schemeClr>
                  </a:solidFill>
                </a:rPr>
                <a:t>藤が丘駅</a:t>
              </a: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043732D2-0604-B6D4-B022-47112CAAC360}"/>
                </a:ext>
              </a:extLst>
            </p:cNvPr>
            <p:cNvSpPr txBox="1"/>
            <p:nvPr/>
          </p:nvSpPr>
          <p:spPr>
            <a:xfrm>
              <a:off x="4011596" y="9506364"/>
              <a:ext cx="800219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600" b="1" dirty="0">
                  <a:solidFill>
                    <a:schemeClr val="bg2">
                      <a:lumMod val="25000"/>
                    </a:schemeClr>
                  </a:solidFill>
                </a:rPr>
                <a:t>青葉台フォーラム</a:t>
              </a: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0F4FA4E-9107-AA7C-E5D3-28787EFF6E0A}"/>
                </a:ext>
              </a:extLst>
            </p:cNvPr>
            <p:cNvSpPr txBox="1"/>
            <p:nvPr/>
          </p:nvSpPr>
          <p:spPr>
            <a:xfrm>
              <a:off x="5646786" y="9793578"/>
              <a:ext cx="88357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00" b="1" dirty="0">
                  <a:solidFill>
                    <a:schemeClr val="bg2">
                      <a:lumMod val="25000"/>
                    </a:schemeClr>
                  </a:solidFill>
                </a:rPr>
                <a:t>JT</a:t>
              </a:r>
              <a:r>
                <a:rPr kumimoji="1" lang="ja-JP" altLang="en-US" sz="600" b="1" dirty="0">
                  <a:solidFill>
                    <a:schemeClr val="bg2">
                      <a:lumMod val="25000"/>
                    </a:schemeClr>
                  </a:solidFill>
                </a:rPr>
                <a:t>たばこ中央研究所</a:t>
              </a:r>
            </a:p>
          </p:txBody>
        </p: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6773F279-8A5E-B642-5B82-F1277D8F5A6D}"/>
                </a:ext>
              </a:extLst>
            </p:cNvPr>
            <p:cNvCxnSpPr/>
            <p:nvPr/>
          </p:nvCxnSpPr>
          <p:spPr>
            <a:xfrm flipH="1">
              <a:off x="4538663" y="9224963"/>
              <a:ext cx="52387" cy="3119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25886869-5622-5CCF-3BDF-9073934D85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00639" y="9803606"/>
              <a:ext cx="119124" cy="685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696DAA55-1C01-29E5-B3E4-E7DA6B581A83}"/>
                </a:ext>
              </a:extLst>
            </p:cNvPr>
            <p:cNvSpPr txBox="1"/>
            <p:nvPr/>
          </p:nvSpPr>
          <p:spPr>
            <a:xfrm>
              <a:off x="6125429" y="9320816"/>
              <a:ext cx="49244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600" b="1" dirty="0">
                  <a:solidFill>
                    <a:schemeClr val="bg2">
                      <a:lumMod val="25000"/>
                    </a:schemeClr>
                  </a:solidFill>
                </a:rPr>
                <a:t>藤が丘小</a:t>
              </a: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3D7CEE0E-E6B0-0B59-2E2C-09B3C1FB3AB2}"/>
                </a:ext>
              </a:extLst>
            </p:cNvPr>
            <p:cNvSpPr txBox="1"/>
            <p:nvPr/>
          </p:nvSpPr>
          <p:spPr>
            <a:xfrm>
              <a:off x="5821400" y="9605096"/>
              <a:ext cx="543739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400" b="1" dirty="0">
                  <a:solidFill>
                    <a:schemeClr val="bg2">
                      <a:lumMod val="25000"/>
                    </a:schemeClr>
                  </a:solidFill>
                </a:rPr>
                <a:t>セブンイレブン</a:t>
              </a:r>
            </a:p>
          </p:txBody>
        </p: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4780C6CA-2748-EF05-5798-6FF11D083C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21400" y="9605096"/>
              <a:ext cx="96006" cy="43248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451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340</Words>
  <Application>Microsoft Office PowerPoint</Application>
  <PresentationFormat>A4 210 x 297 mm</PresentationFormat>
  <Paragraphs>58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>JT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Mori, Akina</dc:creator>
  <cp:lastModifiedBy>多田羅　洋太</cp:lastModifiedBy>
  <cp:revision>5</cp:revision>
  <cp:lastPrinted>2023-07-07T00:39:59Z</cp:lastPrinted>
  <dcterms:created xsi:type="dcterms:W3CDTF">2023-07-04T12:30:50Z</dcterms:created>
  <dcterms:modified xsi:type="dcterms:W3CDTF">2023-07-10T03:43:34Z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20b37f-db72-473e-ae54-fb16df408069_Enabled">
    <vt:lpwstr>true</vt:lpwstr>
  </property>
  <property fmtid="{D5CDD505-2E9C-101B-9397-08002B2CF9AE}" pid="3" name="MSIP_Label_b020b37f-db72-473e-ae54-fb16df408069_SetDate">
    <vt:lpwstr>2023-07-04T12:30:50Z</vt:lpwstr>
  </property>
  <property fmtid="{D5CDD505-2E9C-101B-9397-08002B2CF9AE}" pid="4" name="MSIP_Label_b020b37f-db72-473e-ae54-fb16df408069_Method">
    <vt:lpwstr>Standard</vt:lpwstr>
  </property>
  <property fmtid="{D5CDD505-2E9C-101B-9397-08002B2CF9AE}" pid="5" name="MSIP_Label_b020b37f-db72-473e-ae54-fb16df408069_Name">
    <vt:lpwstr>General</vt:lpwstr>
  </property>
  <property fmtid="{D5CDD505-2E9C-101B-9397-08002B2CF9AE}" pid="6" name="MSIP_Label_b020b37f-db72-473e-ae54-fb16df408069_SiteId">
    <vt:lpwstr>705d07a3-2eea-4f3b-ab59-65ca29abeb26</vt:lpwstr>
  </property>
  <property fmtid="{D5CDD505-2E9C-101B-9397-08002B2CF9AE}" pid="7" name="MSIP_Label_b020b37f-db72-473e-ae54-fb16df408069_ActionId">
    <vt:lpwstr>532c23ec-9164-452e-a715-3d2d1c4e6ad9</vt:lpwstr>
  </property>
  <property fmtid="{D5CDD505-2E9C-101B-9397-08002B2CF9AE}" pid="8" name="MSIP_Label_b020b37f-db72-473e-ae54-fb16df408069_ContentBits">
    <vt:lpwstr>0</vt:lpwstr>
  </property>
</Properties>
</file>